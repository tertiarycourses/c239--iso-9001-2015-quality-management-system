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7" r:id="rId158"/>
    <p:sldId id="408" r:id="rId1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so.org/standard/62085.html" TargetMode="External"/><Relationship Id="rId3" Type="http://schemas.openxmlformats.org/officeDocument/2006/relationships/hyperlink" Target="https://www.iso.org/home/insights-news/resources/iso-9001-explained.html" TargetMode="External"/><Relationship Id="rId4" Type="http://schemas.openxmlformats.org/officeDocument/2006/relationships/hyperlink" Target="https://www.iso.org/iso/pub100080.pdf" TargetMode="External"/><Relationship Id="rId5" Type="http://schemas.openxmlformats.org/officeDocument/2006/relationships/hyperlink" Target="https://asq.org/quality-resources/iso-9001" TargetMode="Externa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sf.org/management-systems/quality-management/iso-9001" TargetMode="External"/><Relationship Id="rId3" Type="http://schemas.openxmlformats.org/officeDocument/2006/relationships/hyperlink" Target="https://advisera.com/9001academy/what-is-iso-9001/" TargetMode="External"/><Relationship Id="rId4" Type="http://schemas.openxmlformats.org/officeDocument/2006/relationships/hyperlink" Target="https://iso-library.com/standard/9001/" TargetMode="External"/><Relationship Id="rId5" Type="http://schemas.openxmlformats.org/officeDocument/2006/relationships/hyperlink" Target="https://en.wikipedia.org/wiki/ISO_9000_family" TargetMode="Externa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868680" cy="8686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966960" y="502920"/>
            <a:ext cx="1508760" cy="1508760"/>
          </a:xfrm>
          <a:prstGeom prst="ellipse">
            <a:avLst/>
          </a:prstGeom>
          <a:solidFill>
            <a:srgbClr val="F5F8FC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95560" y="731520"/>
            <a:ext cx="1051560" cy="10515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896112"/>
            <a:ext cx="105156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QMS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NON-WSQ COURSE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10789920" cy="1600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ISO 9001:2015 Quality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160520"/>
            <a:ext cx="2423160" cy="54864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607040" cy="9875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C239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Tertiary Infotech Academy Pte Ltd  |  UEN: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|  30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60704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One day | 7.5 hours | beginner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slow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46120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24612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286000"/>
            <a:ext cx="1572768" cy="1572768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8488" y="2286000"/>
            <a:ext cx="1572768" cy="15727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96512"/>
            <a:ext cx="288036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27448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7059168" cy="6019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82296" cy="6019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19656"/>
            <a:ext cx="6473952" cy="5288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94A3B8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531364"/>
            <a:ext cx="7059168" cy="6019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531364"/>
            <a:ext cx="82296" cy="60198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567940"/>
            <a:ext cx="6473952" cy="5288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9D8A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94A3B8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279648"/>
            <a:ext cx="7059168" cy="6019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279648"/>
            <a:ext cx="82296" cy="6019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316224"/>
            <a:ext cx="6473952" cy="5288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94A3B8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7932"/>
            <a:ext cx="7059168" cy="6019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027932"/>
            <a:ext cx="82296" cy="6019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064508"/>
            <a:ext cx="6473952" cy="5288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D97706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94A3B8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776216"/>
            <a:ext cx="7059168" cy="6019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776216"/>
            <a:ext cx="82296" cy="6019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812792"/>
            <a:ext cx="6473952" cy="5288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TRAINING AND INDUSTRY EXPERIENCE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94A3B8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524500"/>
            <a:ext cx="7059168" cy="6019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5524500"/>
            <a:ext cx="82296" cy="60198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5561076"/>
            <a:ext cx="6473952" cy="5288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9D8A"/>
                </a:solidFill>
                <a:latin typeface="Arial"/>
              </a:rPr>
              <a:t>CONTACT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94A3B8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transition spd="slow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46120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2461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286000"/>
            <a:ext cx="1572768" cy="15727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8488" y="2286000"/>
            <a:ext cx="1572768" cy="15727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96512"/>
            <a:ext cx="288036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27448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|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7059168" cy="976121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82296" cy="97612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19656"/>
            <a:ext cx="6473952" cy="90296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Principal Trainer and course developer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905506"/>
            <a:ext cx="7059168" cy="976121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905506"/>
            <a:ext cx="82296" cy="976121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942082"/>
            <a:ext cx="6473952" cy="90296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9D8A"/>
                </a:solidFill>
                <a:latin typeface="Arial"/>
              </a:rPr>
              <a:t>EXPERTISE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Quality systems, business process improvement and applied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7931"/>
            <a:ext cx="7059168" cy="976121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027931"/>
            <a:ext cx="82296" cy="97612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064507"/>
            <a:ext cx="6473952" cy="90296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Professional and technical programmes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150357"/>
            <a:ext cx="7059168" cy="976121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5150357"/>
            <a:ext cx="82296" cy="97612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5186933"/>
            <a:ext cx="6473952" cy="90296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D97706"/>
                </a:solidFill>
                <a:latin typeface="Arial"/>
              </a:rPr>
              <a:t>FOUNDER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transition spd="slow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96240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017395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7395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828800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10078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10078"/>
            <a:ext cx="82296" cy="96240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144393"/>
            <a:ext cx="493776" cy="493776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144393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955798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process whose quality matters to your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37076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37076"/>
            <a:ext cx="82296" cy="9624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71391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71391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82796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recurring problem you would like to prevent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64074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64074"/>
            <a:ext cx="82296" cy="96240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" y="5398389"/>
            <a:ext cx="493776" cy="49377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398389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" y="5209794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What success from this course would look like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transition spd="slow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686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Return from breaks on time and stay for the full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168652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Ask, challenge and contribute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4032"/>
            <a:ext cx="82296" cy="13014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896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One conversation at a time; disagree professionally.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4032"/>
            <a:ext cx="82296" cy="1301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689604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Protect information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fictional or sanitised workplace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24984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2105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Stay practical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Link every idea to a process or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24984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5210556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Own the result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Verify your activity output before submission.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transition spd="slow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plan: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9:30-9:50 | Administration and orientation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9:50-11:45 | Foundations, Activities 1-2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11:45-12:45 | Planning, support and operation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12:45-1:15 | Lunch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Afternoon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1:15-2:25 | Activities 3-4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2:25-4:10 | Evaluation, Activities 5-6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4:10-5:20 | Improvement and Activities 7-8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5:20-5:30 | Recap and course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transition spd="slow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Quality management that improves real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Purpose, principles, process approach, PDCA and current ISO 9001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transition spd="slow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QUALITY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59152"/>
            <a:ext cx="10241280" cy="187451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Quality is not inspection at the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498848"/>
            <a:ext cx="10149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It is the capability of the whole system to fulfil requirements consistently and learn from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transition spd="slow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QUALITY AND ITS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Quality: four complementary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Conformity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Does the output meet defined requirements?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Fitness for use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Will it work for the customer's intended purpose?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Can the process reproduce the intended result?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Satisfaction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How well are customer needs and expectations fulfilled?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transition spd="slow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Quality is not the same as 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Quality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Quality asks whether requirements are fulfilled.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basic product can be high quality if it reliably meets its specification.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Quality includes product, service, process and system characteristics.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Grade</a:t>
            </a:r>
          </a:p>
        </p:txBody>
      </p:sp>
      <p:sp>
        <p:nvSpPr>
          <p:cNvPr id="22" name="Oval 21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Grade describes category or class with different feature sets.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premium product can still be poor quality when it fails its stated requirements.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confuse more features with better conformity.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transition spd="slow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THREE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Quality control, quality assurance and QMS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Quality Control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Detect output variation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11296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Inspection and testing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Product/service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783080"/>
            <a:ext cx="3310128" cy="10972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Quality Assurance</a:t>
            </a:r>
          </a:p>
        </p:txBody>
      </p:sp>
      <p:sp>
        <p:nvSpPr>
          <p:cNvPr id="19" name="Oval 18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Build confidence in controls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3511296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Prevention and process evidence</a:t>
            </a:r>
          </a:p>
        </p:txBody>
      </p:sp>
      <p:sp>
        <p:nvSpPr>
          <p:cNvPr id="23" name="Oval 22"/>
          <p:cNvSpPr/>
          <p:nvPr/>
        </p:nvSpPr>
        <p:spPr>
          <a:xfrm>
            <a:off x="4782312" y="4233672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Process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3" y="1783080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Quality Management System</a:t>
            </a:r>
          </a:p>
        </p:txBody>
      </p:sp>
      <p:sp>
        <p:nvSpPr>
          <p:cNvPr id="28" name="Oval 27"/>
          <p:cNvSpPr/>
          <p:nvPr/>
        </p:nvSpPr>
        <p:spPr>
          <a:xfrm>
            <a:off x="8558783" y="27889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8823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Policies, processes and roles</a:t>
            </a:r>
          </a:p>
        </p:txBody>
      </p:sp>
      <p:sp>
        <p:nvSpPr>
          <p:cNvPr id="30" name="Oval 29"/>
          <p:cNvSpPr/>
          <p:nvPr/>
        </p:nvSpPr>
        <p:spPr>
          <a:xfrm>
            <a:off x="8558783" y="35112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3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Resources and evidence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8558783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3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System-wide 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transition spd="slow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quality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686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Customer trust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Consistent fulfilment reduces complaints and strengthens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168652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Cost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Prevention and capable processes reduce scrap, rework, delay and warranty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4032"/>
            <a:ext cx="82296" cy="13014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896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Controlled work lowers regulatory, safety, contractual and reputation exposure.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4032"/>
            <a:ext cx="82296" cy="1301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689604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Growth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Credible systems support tenders, supply-chain approval and repeat business.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24984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2105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Clear ownership and competent work reduce firefighting.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24984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5210556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Evidence turns recurring problems into improvement knowledge.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transition spd="slow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Cost of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Conformance cost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Prevention: planning, training, mistake-proofing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Appraisal: inspection, test, audit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Investment should increase capability and early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Nonconformance cost</a:t>
            </a:r>
          </a:p>
        </p:txBody>
      </p:sp>
      <p:sp>
        <p:nvSpPr>
          <p:cNvPr id="22" name="Oval 21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Internal failure: scrap, rework, downtime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failure: complaints, returns, warranty, lost trust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Failure cost often rises sharply after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transition spd="slow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modern quality management evolved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Craft 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Inspection and standardisation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Statistical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Quality assurance 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ISO 9001 process and risk thinking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transition spd="slow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FAMILY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ISO 9000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ISO 9000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Fundamentals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11296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Vocabulary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Quality management principles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783080"/>
            <a:ext cx="3310128" cy="10972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ISO 9001</a:t>
            </a:r>
          </a:p>
        </p:txBody>
      </p:sp>
      <p:sp>
        <p:nvSpPr>
          <p:cNvPr id="19" name="Oval 18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QMS requirements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3511296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Only certifiable family standard</a:t>
            </a:r>
          </a:p>
        </p:txBody>
      </p:sp>
      <p:sp>
        <p:nvSpPr>
          <p:cNvPr id="23" name="Oval 22"/>
          <p:cNvSpPr/>
          <p:nvPr/>
        </p:nvSpPr>
        <p:spPr>
          <a:xfrm>
            <a:off x="4782312" y="4233672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Applicable to any sector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3" y="1783080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Supporting guidance</a:t>
            </a:r>
          </a:p>
        </p:txBody>
      </p:sp>
      <p:sp>
        <p:nvSpPr>
          <p:cNvPr id="28" name="Oval 27"/>
          <p:cNvSpPr/>
          <p:nvPr/>
        </p:nvSpPr>
        <p:spPr>
          <a:xfrm>
            <a:off x="8558783" y="27889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8823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ISO 9004 sustained success</a:t>
            </a:r>
          </a:p>
        </p:txBody>
      </p:sp>
      <p:sp>
        <p:nvSpPr>
          <p:cNvPr id="30" name="Oval 29"/>
          <p:cNvSpPr/>
          <p:nvPr/>
        </p:nvSpPr>
        <p:spPr>
          <a:xfrm>
            <a:off x="8558783" y="35112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3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ISO 19011 auditing guidance</a:t>
            </a:r>
          </a:p>
        </p:txBody>
      </p:sp>
      <p:sp>
        <p:nvSpPr>
          <p:cNvPr id="32" name="Oval 31"/>
          <p:cNvSpPr/>
          <p:nvPr/>
        </p:nvSpPr>
        <p:spPr>
          <a:xfrm>
            <a:off x="8558783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3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ISO/TS 9002 application guidance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slow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CURRENT AND FORTHCOMING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Current standard status - 12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96240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017395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7395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828800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ISO 9001:2015 with Amendment 1:2024 (climate action)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10078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10078"/>
            <a:ext cx="82296" cy="96240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144393"/>
            <a:ext cx="493776" cy="493776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144393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955798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2015 edition remains current as at 12 August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37076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37076"/>
            <a:ext cx="82296" cy="9624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71391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71391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82796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ISO states that a revised edition is expected in September 2026; teach only published requirements and plan a gap review after publication.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64074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64074"/>
            <a:ext cx="82296" cy="96240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" y="5398389"/>
            <a:ext cx="493776" cy="49377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398389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" y="5209794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not treat a draft as a requirement; prepare to compare the published edition and transition guidance after release.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transition spd="slow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CLAUSES 4-10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ISO 9001 structure: from context to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5453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" y="256032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3346704"/>
            <a:ext cx="1645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5144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5144" y="2148840"/>
            <a:ext cx="154533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24911" y="2560320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1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7" y="3346704"/>
            <a:ext cx="1645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0208" y="2148840"/>
            <a:ext cx="15453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79976" y="2560320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3346704"/>
            <a:ext cx="1645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05272" y="2148840"/>
            <a:ext cx="1545336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35040" y="2560320"/>
            <a:ext cx="694944" cy="69494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346704"/>
            <a:ext cx="1645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0336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0336" y="2148840"/>
            <a:ext cx="154533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90104" y="256032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0104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4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346704"/>
            <a:ext cx="1645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15400" y="2148840"/>
            <a:ext cx="154533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45168" y="2560320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3304" y="3346704"/>
            <a:ext cx="1645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70463" y="2148840"/>
            <a:ext cx="1545336" cy="2880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70463" y="2148840"/>
            <a:ext cx="154533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00232" y="2560320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00232" y="256032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80191" y="3611880"/>
            <a:ext cx="13258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Improvement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376672"/>
            <a:ext cx="1056132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Clauses 1-3 set scope, references and vocabulary; auditable QMS requirements sit in clauses 4-10.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transition spd="slow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QMS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Seven quality management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92125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97853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78533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Customer focus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Understand needs, deliver value and monitor satisfaction.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92125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1978533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1978533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Leadership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Create unity of purpose, direction and enabling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23794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23794"/>
            <a:ext cx="82296" cy="9212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11924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19247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033522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Engagement of people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Competent, empowered people create and deliver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923794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23794"/>
            <a:ext cx="82296" cy="92125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119247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119247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033522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Process approach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Manage activities as connected processes within a coherent system.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064508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64508"/>
            <a:ext cx="82296" cy="92125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425996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259961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174236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Improvement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Make improvement an ongoing organisational objective.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064508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64508"/>
            <a:ext cx="82296" cy="92125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4259961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259961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174236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Evidence-based decisions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analysis and reliable information to reduce uncertainty.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05222"/>
            <a:ext cx="5198364" cy="92125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05222"/>
            <a:ext cx="82296" cy="9212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5840" y="540067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400675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314950"/>
            <a:ext cx="4027932" cy="73837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Relationship management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Manage relevant stakeholder relationships for sustained success.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transition spd="slow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Customer focus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Translate needs into clear 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changes before commitment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 experience across relevant segments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Close the loop on complaints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Decision cautions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says so is not the only evidence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Short-term satisfaction cannot override legal duties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Averages can hide critical segments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 without action erodes trust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transition spd="slow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PRINCIPLES 2-3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Leadership and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Enable the system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Connect quality direction to strategy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authority and resources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 it safe to surface problems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Recognise contributions to improvement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Failure patterns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Quality delegated to one function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Targets reward speed over conformity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is offered without empowerment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Bad news is punished or hidden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transition spd="slow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PRINCIPLES 4-6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Process, evidence and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Disciplined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purpose, owner, inputs and outputs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measures that support decisions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changes using PDCA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Standardise what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traps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 goals conflict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 definitions drift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Solutions start before causes are known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Projects close without sustainment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slow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PRINCIPLE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Relationship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Value-creating relationships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Segment providers by risk and importance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Share relevant requirements and performance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Develop capability where mutual value exists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relationship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Lowest price dominates all decisions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Supplier problems are hidden until failure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Requirements are ambiguous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Outsourcing is treated as transferring accountability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transition spd="slow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PROCESS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PDCA: the operating rhythm of a QMS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0" y="2468880"/>
            <a:ext cx="2331720" cy="1298448"/>
          </a:xfrm>
          <a:prstGeom prst="ellipse">
            <a:avLst/>
          </a:prstGeom>
          <a:solidFill>
            <a:srgbClr val="F5F8FC"/>
          </a:solidFill>
          <a:ln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578608"/>
            <a:ext cx="2331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990088"/>
            <a:ext cx="20116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Context, objectives, risks and controls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468880"/>
            <a:ext cx="2331720" cy="1298448"/>
          </a:xfrm>
          <a:prstGeom prst="ellipse">
            <a:avLst/>
          </a:prstGeom>
          <a:solidFill>
            <a:srgbClr val="F5F8FC"/>
          </a:solidFill>
          <a:ln>
            <a:solidFill>
              <a:srgbClr val="0F9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78608"/>
            <a:ext cx="2331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90088"/>
            <a:ext cx="20116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Resources, operation and documented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663440"/>
            <a:ext cx="2331720" cy="1298448"/>
          </a:xfrm>
          <a:prstGeom prst="ellipse">
            <a:avLst/>
          </a:prstGeom>
          <a:solidFill>
            <a:srgbClr val="F5F8FC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73168"/>
            <a:ext cx="2331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5184648"/>
            <a:ext cx="20116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Monitor, audit, analyse and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2926080" y="4663440"/>
            <a:ext cx="2331720" cy="1298448"/>
          </a:xfrm>
          <a:prstGeom prst="ellipse">
            <a:avLst/>
          </a:prstGeom>
          <a:solidFill>
            <a:srgbClr val="F5F8FC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773168"/>
            <a:ext cx="2331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D97706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5184648"/>
            <a:ext cx="201168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Correct, improve, standardise and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852928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913632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507492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913632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slow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PDCA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PDCA at process and system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cycle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Plan: purpose, requirements, resources, risks, measures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Do: operate under controlled conditions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Check: compare evidence with intended results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Act: correct, improve and standardise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Where it applies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process: order review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End-to-end value stream: order to delivery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Whole QMS: clauses 4-10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Improvement portfolio: priorities and benefits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transition spd="slow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BUSINESS PROCESS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Process approach: define before you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Purpose and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Inputs and suppliers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Activities and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Outputs and measures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Owner, risks and interfaces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transition spd="slow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Certification: what it is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Voluntary framework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Certification is not required by ISO 9001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11296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Customers or tenders may require it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Organisations may use the QMS without certification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783080"/>
            <a:ext cx="3310128" cy="10972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Independent assessment</a:t>
            </a:r>
          </a:p>
        </p:txBody>
      </p:sp>
      <p:sp>
        <p:nvSpPr>
          <p:cNvPr id="19" name="Oval 18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ISO does not certify organisations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3511296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Accredited certification bodies audit</a:t>
            </a:r>
          </a:p>
        </p:txBody>
      </p:sp>
      <p:sp>
        <p:nvSpPr>
          <p:cNvPr id="23" name="Oval 22"/>
          <p:cNvSpPr/>
          <p:nvPr/>
        </p:nvSpPr>
        <p:spPr>
          <a:xfrm>
            <a:off x="4782312" y="4233672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Scope and conformity must be demonstrated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3" y="1783080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Ongoing cycle</a:t>
            </a:r>
          </a:p>
        </p:txBody>
      </p:sp>
      <p:sp>
        <p:nvSpPr>
          <p:cNvPr id="28" name="Oval 27"/>
          <p:cNvSpPr/>
          <p:nvPr/>
        </p:nvSpPr>
        <p:spPr>
          <a:xfrm>
            <a:off x="8558783" y="27889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8823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Stage 1 readiness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8558783" y="35112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3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Stage 2 implementation audit</a:t>
            </a:r>
          </a:p>
        </p:txBody>
      </p:sp>
      <p:sp>
        <p:nvSpPr>
          <p:cNvPr id="32" name="Oval 31"/>
          <p:cNvSpPr/>
          <p:nvPr/>
        </p:nvSpPr>
        <p:spPr>
          <a:xfrm>
            <a:off x="8558783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3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Surveillance and recertification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transition spd="slow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Typical certification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Leadership decision and gap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Design and implement the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Operate, audit and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Stage 1 and Stage 2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Surveillance and recertification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transition spd="slow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ANNEX 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Integrated management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Integration advantages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Common harmonised structure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Shared context and interested parties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Common governance, audit and review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Reduced duplication across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Examples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 9001 | quality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 14001 | environment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 45001 | occupational health and safety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ISO/IEC 27001 | information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transition spd="slow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9D8A"/>
                </a:solidFill>
                <a:latin typeface="Arial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Context, leadership, planning, support and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Quality foundations, context, leadership, planning, support and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transition spd="slow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4.1 Understanding the organisation and its context: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Determine internal and external issues that affect QMS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Review strategic, market, technology, regulatory and workforce issues.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Decide whether climate change is relevant under Amendment 1:2024.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Refresh the analysis when conditions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transition spd="slow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4.1 Understanding the organisation and its context: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Strategy or risk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 register with owners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 and regulatory scan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Management review discussion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Static SWOT never revisited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Generic issues unrelated to QMS results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Climate relevance asserted without rationale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link from issue to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transition spd="slow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4.2 Interested parties and requirements: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Identify relevant interested parties and requirements that affect the QMS.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Select parties because they affect consistent conformity or satisfaction.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Capture applicable customer, statutory and regulatory needs.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Monitor changes, including climate-related expectations where relevant.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transition spd="slow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4.2 Interested parties and requirements: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contracts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Regulatory obligations register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Supplier or employee requirements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records showing 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Listing everyone without relevance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Confusing wishes with binding requirements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owner for monitoring changes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Requirements not translated into processes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transition spd="slow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4.3 Scope of the QMS: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Set a clear, truthful boundary for products, services, sites and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Consider context and interested-party requirements.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State products, services and organisational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Justify any requirement considered not applicable.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transition spd="slow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4.3 Scope of the QMS: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Approved scope statement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Site and process boundary map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Applicability rationale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Certification scope aligned with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Marketing scope broader than reality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Exclusions used to avoid responsibility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Outsourced processes treated as out of scope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Scope not available as controlled information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transition spd="slow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4.4 QMS and its processes: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Manage interconnected processes so they achieve intended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Define inputs, outputs, sequence and interaction.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Assign criteria, measures, resources, owners and risks.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Evaluate and improve process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transition spd="slow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4.4 QMS and its processes: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SIPOC and process maps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 KPIs and targets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Owner and responsibility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Records of review and improvement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Procedure library with no process model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Local optimisation damages end-to-end flow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measures replace outcome measures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evidence that planned results are achieved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transition spd="slow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5.1 Leadership and commitment: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Top management owns QMS effectiveness and integrates it into business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Align quality with strategy and business processes.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Provide resources and support process owners.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Promote customer focus, process approach and improvement.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transition spd="slow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5.1 Leadership and commitment: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Decisions and resource allocation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Leadership participation in reviews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Quality objectives linked to strategy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of removing barriers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Delegating the QMS to the quality manager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Talking quality but rewarding speed only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Reviews without decisions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risk absent from leadership agenda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transition spd="slow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5.2 Quality policy: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Provide a direction that fits the organisation and supports quality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Make commitments to applicable requirements and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Communicate, understand and apply the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Keep it available as controlled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transition spd="slow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5.2 Quality policy: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Policy linked to business purpose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Interview evidence of meaning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Objectives derived from commitments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Current approved copy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Generic poster language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Employees can recite but not apply it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Policy disconnected from objectives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Obsolete versions remain in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transition spd="slow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5.3 Roles, responsibilities and authorities: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Make accountability clear so processes deliver and QMS results are reported.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Assign process ownership and decision authority.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Ensure reporting on performance and improvement.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Preserve customer focus during organisational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slow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5.3 Roles, responsibilities and authorities: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RACI or role profiles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Process-owner terms of reference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Escalation paths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Management reporting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Everyone is responsible means nobody owns it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Responsibility without authority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Quality team owns operational controls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Gaps during leave or restructuring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transition spd="slow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Diagnose Quality Gaps from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Analyse LPC's complaint, defect and delivery evidence; prioritise improvement areas and connect them to customer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completed quality-gap prioritisation matrix and evidence-backed problem statement.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Scenario brief PDF, Quality Gap Workbook (Excel), team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transition spd="slow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1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Diagnose Quality Gaps from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LPC's customer complaints doubled in six months. Late deliveries, burr defects and inconsistent certificates are repeatedly mentioned, but managers disagree about the main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transition spd="slow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1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Diagnose Quality Gaps from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The top three gaps are traceable to supplied evidence; the problem statement contains a baseline, affected process and measurable effect.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transition spd="slow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Map and Improve the Order-to-Delivery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Map LPC's order-to-delivery process, expose hand-off risks and design a controlled future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SIPOC, current-state map, improvement hypothesis and PDCA action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Process Mapping Workbook (Excel), SIPOC checklist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transition spd="slow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2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Map and Improve the Order-to-Delivery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Sales accepts emailed drawings, Planning creates job travellers, Production machines parts, Quality inspects and Logistics ships. Rework and missing revision information frequently surface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transition spd="slow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2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Map and Improve the Order-to-Delivery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The map has clear boundaries, owners, inputs, outputs, controls and measures; the PDCA experiment has a testable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transition spd="slow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Planning, support and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Risk-based planning | resources | documented information | operational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transition spd="slow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6.1 Actions for risks and opportunities: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Plan proportionate actions that protect intended results and enable improvement.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Identify risks and opportunities from context and processes.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Integrate actions into operational controls.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Evaluate whether actions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transition spd="slow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6.1 Actions for risks and opportunities: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 and opportunity register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Changed controls or plans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Owners and completion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Effectiveness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 register isolated from work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 risk scored but none acted upon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Controls copied from templates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Completion confused with effectiveness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transition spd="slow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6.2 Quality objectives and plans: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Translate policy into measurable outcomes with a credible achievement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Set relevant measurable objectives at appropriate levels.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Define actions, resources, owner, timing and evaluation method.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Update objectives when circumstances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transition spd="slow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6.2 Quality objectives and plans: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Objective and KPI dictionary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Baseline and target rationale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 plans with owners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Periodic results and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Vague goals such as improve quality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Targets without baselines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KPIs without decisions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Measures that encourage gaming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transition spd="slow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6.3 Planning changes: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Change the QMS deliberately without losing integrity or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Define purpose and likely consequences.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Check resources and responsibilities.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Plan sequencing, validation and communication.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transition spd="slow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6.3 Planning changes: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request and impact analysis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Implementation and rollback plan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Competence or communication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Post-change effectiveness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Emergency change becomes permanent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risk assessment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Documents updated after rollout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Interfaces and dependent processes missed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transition spd="slow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7.1 Resources: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Provide and maintain people, infrastructure, environment, measurement resources and knowledge.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Determine resource needs using process and performance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Protect measurement validity and traceability where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Maintain organisational knowledge through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transition spd="slow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7.1 Resources: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Capacity and maintenance plans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Calibration or verification records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Work-environment controls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Knowledge capture and succession plans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Resources approved without need analysis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Calibration status unknown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Environment affects conformity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Critical know-how held by one 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transition spd="slow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7.2-7.4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7.2-7.4 Competence, awareness and communication: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Ensure people can perform work, understand impact and receive the right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Define competence by role and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Evaluate training or other actions for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Plan what, when, with whom and how to communicate.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transition spd="slow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7.2-7.4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7.2-7.4 Competence, awareness and communication: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Competence matrix and criteria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Observed performance after training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Awareness interviews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Communication plan and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Attendance certificate treated as competence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effectiveness check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Broadcast email treated as communication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Contractors left outside awareness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transition spd="slow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7.5 Documented information: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Create and control information needed to operate processes and prove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Identify, describe, review and approve information appropriately.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Make current information available where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Protect, retain, retrieve and dispose of records.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slow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7.5 Documented information: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 register and approvals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Point-of-use revision controls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 and backup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Retention and disposal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Documentation for its own sake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Obsolete copies at point of use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Records editable without traceability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documents uncontrolled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transition spd="slow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8.1 Operational planning and control: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Plan and control the work required to meet product and service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Set process criteria and acceptance criteria.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Provide resources and controlled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 planned changes and review unintended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transition spd="slow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8.1 Operational planning and control: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 plan or service plan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 instructions and acceptance criteria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Production or service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and deviation approvals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Plans exist but are not followed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Acceptance criteria subjective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Outsourced work omitted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Unplanned changes not reviewed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transition spd="slow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8.2 Requirements for products and services: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Understand, review and communicate requirements before committing to supply.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 customer communication.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Determine stated, unstated, legal and organisational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Review feasibility and control requirement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transition spd="slow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8.2 Requirements for products and services: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Contract or order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communication records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Technical feasibility review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Revision and change acknowledgement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Sales commits before review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Assumptions remain undocumented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Changed requirements not cascaded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Complaint feedback not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transition spd="slow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8.3 Design and development: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 design stages, inputs, reviews, verification, validation, outputs and changes where applicable.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Plan stages and responsibilities proportionately.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Make inputs complete and unambiguous.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reviews, verification and validation for distinct purposes.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transition spd="slow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8.3 Design and development: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plan and input record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and verification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Validation against intended use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Approved outputs and change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Verification confused with validation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changes bypass control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Customer-use conditions missed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Outputs inadequate for later processes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transition spd="slow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8.4 Externally provided processes, products and services: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 suppliers and outsourced work according to their effect on conformity.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Select, evaluate, monitor and re-evaluate providers.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Set type and extent of control using risk and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Communicate clear requirements to providers.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transition spd="slow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8.4 Externally provided processes, products and services: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Approved-provider criteria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Supplier performance trends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Purchase specifications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Incoming verification and re-evaluation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 based only on price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Same controls for all suppliers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Outsourcing treated as transferring accountability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Poor performance not acted upon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transition spd="slow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8.5 Production and service provision: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Deliver under controlled conditions while protecting identity, traceability, property and preservation.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Provide current information and competent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suitable monitoring, identification and release controls.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 changes and post-delivery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transition spd="slow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8.5 Production and service provision: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Job traveller or service record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Identification and traceability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Customer-property log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authorisation and preservation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Tribal knowledge replaces controls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Traceability breaks at rework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data or property mishandled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Temporary process change undocumented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transition spd="slow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8.6 Release of products and services: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Release only after planned acceptance arrangements are satisfactorily completed.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Verify acceptance evidence before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Retain evidence of conformity.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Identify the person authorising release.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transition spd="slow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8.6 Release of products and services: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Inspection or service acceptance record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results against criteria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 status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Authorised release signature or system record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Schedule pressure overrides acceptance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completed after shipment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Authority unclear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Concession not approved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transition spd="slow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8.7 Control of nonconforming outputs: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Prevent unintended use or delivery and control what happens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Identify and segregate or otherwise control the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Choose correction, containment, concession or other disposition.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Re-verify after correction and retain decision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transition spd="slow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8.7 Control of nonconforming outputs: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Nonconformance record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Identification and segregation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Disposition and concession approval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Re-verification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Rework performed without approval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Correction hides systemic cause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Affected scope not traced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notified too 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transition spd="slow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thinking: prioritise proportionately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00200" y="5084064"/>
            <a:ext cx="758952" cy="758952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5248656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6584" y="5084064"/>
            <a:ext cx="758952" cy="758952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5248656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5084064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5248656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9352" y="5084064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5248656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5736" y="5084064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5248656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297680"/>
            <a:ext cx="758952" cy="758952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462272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6584" y="4297680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6584" y="4462272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4297680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2968" y="4462272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9352" y="4297680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9352" y="4462272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5736" y="4297680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4462272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3511296"/>
            <a:ext cx="758952" cy="758952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3675888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6584" y="3511296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6584" y="3675888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3511296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2968" y="3675888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9352" y="3511296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9352" y="3675888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45736" y="3511296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5736" y="3675888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2724912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2889504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2724912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6584" y="2889504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2968" y="2724912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2889504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9352" y="2724912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9352" y="2889504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45736" y="2724912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5736" y="2889504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00200" y="1938528"/>
            <a:ext cx="758952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00200" y="2103120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86584" y="1938528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86584" y="2103120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2968" y="1938528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968" y="2103120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59352" y="1938528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59352" y="2103120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45736" y="1938528"/>
            <a:ext cx="758952" cy="7589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45736" y="2103120"/>
            <a:ext cx="758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1920240"/>
            <a:ext cx="731520" cy="3840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IMPACT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00200" y="5961888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LIKELIHOOD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1984248"/>
            <a:ext cx="489204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1984248"/>
            <a:ext cx="73152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2057400"/>
            <a:ext cx="10972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Determine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2057400"/>
            <a:ext cx="31546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could affect the intended result?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2898648"/>
            <a:ext cx="489204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2898648"/>
            <a:ext cx="73152" cy="74980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2971800"/>
            <a:ext cx="10972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9D8A"/>
                </a:solidFill>
                <a:latin typeface="Arial"/>
              </a:rPr>
              <a:t>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18120" y="2971800"/>
            <a:ext cx="31546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Actions proportionate to potential impact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3813048"/>
            <a:ext cx="489204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813048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0" y="3886200"/>
            <a:ext cx="10972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Integrate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3886200"/>
            <a:ext cx="31546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Embed actions in real processes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4727448"/>
            <a:ext cx="4892040" cy="749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4727448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4800600"/>
            <a:ext cx="10972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Evaluate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18120" y="4800600"/>
            <a:ext cx="31546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whether actions are effective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transition spd="slow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6.2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Quality objective design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SMART and owned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Specific outcome and population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Measurable definition and baseline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Target and due date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Owner, resources and action 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Decision-ready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Relevant to policy and process result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Balanced leading and lagging measures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cadence and response threshold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of change and effectiveness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transition spd="slow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Documented information life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Need and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Create and identify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Review and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Use, protect and retain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Change, archive or dispose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transition spd="slow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QUALITY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the right quality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Understand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Flowchart or SIPOC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11296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Check sheet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Stratification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783080"/>
            <a:ext cx="3310128" cy="10972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Prioritise and explain</a:t>
            </a:r>
          </a:p>
        </p:txBody>
      </p:sp>
      <p:sp>
        <p:nvSpPr>
          <p:cNvPr id="19" name="Oval 18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Pareto analysis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3511296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Cause-and-effect</a:t>
            </a:r>
          </a:p>
        </p:txBody>
      </p:sp>
      <p:sp>
        <p:nvSpPr>
          <p:cNvPr id="23" name="Oval 22"/>
          <p:cNvSpPr/>
          <p:nvPr/>
        </p:nvSpPr>
        <p:spPr>
          <a:xfrm>
            <a:off x="4782312" y="4233672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5 Whys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3" y="1783080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Control and improve</a:t>
            </a:r>
          </a:p>
        </p:txBody>
      </p:sp>
      <p:sp>
        <p:nvSpPr>
          <p:cNvPr id="28" name="Oval 27"/>
          <p:cNvSpPr/>
          <p:nvPr/>
        </p:nvSpPr>
        <p:spPr>
          <a:xfrm>
            <a:off x="8558783" y="27889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8823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Control chart</a:t>
            </a:r>
          </a:p>
        </p:txBody>
      </p:sp>
      <p:sp>
        <p:nvSpPr>
          <p:cNvPr id="30" name="Oval 29"/>
          <p:cNvSpPr/>
          <p:nvPr/>
        </p:nvSpPr>
        <p:spPr>
          <a:xfrm>
            <a:off x="8558783" y="35112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3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FMEA</a:t>
            </a:r>
          </a:p>
        </p:txBody>
      </p:sp>
      <p:sp>
        <p:nvSpPr>
          <p:cNvPr id="32" name="Oval 31"/>
          <p:cNvSpPr/>
          <p:nvPr/>
        </p:nvSpPr>
        <p:spPr>
          <a:xfrm>
            <a:off x="8558783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3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PDCA or A3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slow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Operational control: requirement to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Understand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Plan controls and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Perform controlled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Verify and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Authorise release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transition spd="slow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SECTOR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Service and manufacturing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Manufacturing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Order review and job traveller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Material identification and traceability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Inspection, test and release record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Nonconforming-product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Services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brief and acceptance criteria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Competence and service checklist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communication record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recovery and feedback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slow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and Apply Quality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check sheets, Pareto analysis and cause-and-effect analysis to prioritise LPC's customer complaints.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coded complaint check sheet, Pareto chart and evidence-led cause hypothesis.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Quality Tools Workbook (Excel), Tool Selection Checklist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transition spd="slow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3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and Apply Quality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LPC has 60 recent complaints from three customer segments. The descriptions are inconsistent and teams jump directly to favourite solutions.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transition spd="slow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3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and Apply Quality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The Pareto chart reconciles to the complaint total and the selected cause hypothesis is explicitly labelled for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transition spd="slow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3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LPC complaint categories before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5257800"/>
            <a:ext cx="8869680" cy="27432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1143000" cy="3063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741023"/>
            <a:ext cx="1143000" cy="2333897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356975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9D8A"/>
                </a:solidFill>
                <a:latin typeface="Arial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Burr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16235"/>
            <a:ext cx="1143000" cy="1458685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232187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907972"/>
            <a:ext cx="1143000" cy="11669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523924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Wrong rev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345578"/>
            <a:ext cx="1143000" cy="72934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96153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148840"/>
            <a:ext cx="1828800" cy="25603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395728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READ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889504"/>
            <a:ext cx="1463040" cy="1417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chart highlights patterns. A decision still needs definitions, context, valid data and a response threshold.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transition spd="slow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Quality Objectives and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Translate LPC's quality policy into SMART objectives, operational measures and a review cadence.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KPI dictionary and dynamic dashboard with targets, formulas, status signals and ownership.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KPI Tracker Workbook (Excel), KPI Design Checklist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transition spd="slow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4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Quality Objectives and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LPC's current dashboard lists activity counts but no targets, owners, decision thresholds or links to customer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transition spd="slow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4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Quality Objectives and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Every KPI has an auditable formula, source, owner, target and defined management response; workbook formulas return no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transition spd="slow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Part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686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Know the issues, parties, scope and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168652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Leadership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Direction, accountability and customer focus.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4032"/>
            <a:ext cx="82296" cy="13014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896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Risks, objectives and controlled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4032"/>
            <a:ext cx="82296" cy="1301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689604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Resources, competence, communication and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24984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2105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Operation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Controlled work from requirement through release.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24984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5210556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information that supports decisions and traceability.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transition spd="slow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9D8A"/>
                </a:solidFill>
                <a:latin typeface="Arial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Performance evaluation and continual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Performance evaluation, audit, management review and continual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transition spd="slow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Performance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Monitoring | analysis | internal audit | management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transition spd="slow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9.1 Monitoring, measurement, analysis and evaluation: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Decide what to measure and use valid data to evaluate QMS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Define method, timing and criteria for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Evaluate customer satisfaction and process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evidence to judge effectiveness and improvement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transition spd="slow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9.1 Monitoring, measurement, analysis and evaluation: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KPI definitions and raw data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feedback trends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Analysis with decisions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Calibration or data-quality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Dashboard without decisions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Averages hide segments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counts replace outcomes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Unvalidated data drives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transition spd="slow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9.2 Internal audit: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Provide objective information on conformity and effective implementation.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Plan a risk-based audit programme.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Define scope and criteria for each audit.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impartial auditors, report results and follow up 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transition spd="slow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9.2 Internal audit: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 programme and plan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Process-based checklist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notes and findings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Correction and corrective-action follow-up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Auditing documents only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Auditor checks own work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Checklist treated as evidence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Findings prescribe consultant solutions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transition spd="slow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9.3 Management review: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Top management evaluates continuing suitability, adequacy, effectiveness and strategic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Review required inputs as a connected performance 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Decide improvement, changes and resource needs.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Retain outputs, owners and follow-up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transition spd="slow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9.3 Management review: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Agenda and input pack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Minutes with decisions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Resource and change actions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Closure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 presentation with no decisions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Missing trend and context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Actions without owners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delegated away from top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transition spd="slow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useful measure has six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686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Which decision will it support?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168652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exactly is counted and excluded?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4032"/>
            <a:ext cx="82296" cy="13014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896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How is it collected and calculated?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4032"/>
            <a:ext cx="82296" cy="1301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689604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Owner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Who validates and responds?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24984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2105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Threshold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When is intervention required?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24984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5210556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Cadence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How often is it reviewed?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transition spd="slow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Leading and lagging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Leading signals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effectiveness observation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Preventive-maintenance adherence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Supplier-risk action closure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First-pass review completion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Lagging results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Complaint rate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Defect or rework rate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On-time delivery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Warranty or service recovery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transition spd="slow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EVALUATE THE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Monthly on-time delivery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5257800"/>
            <a:ext cx="8869680" cy="27432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1143000" cy="30632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11569"/>
            <a:ext cx="1143000" cy="2963351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727521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F9D8A"/>
                </a:solidFill>
                <a:latin typeface="Arial"/>
              </a:rPr>
              <a:t>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11457"/>
            <a:ext cx="1143000" cy="2863463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27409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278049"/>
            <a:ext cx="1143000" cy="2796871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894001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144865"/>
            <a:ext cx="1143000" cy="2930055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760817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394960"/>
            <a:ext cx="141732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148840"/>
            <a:ext cx="1828800" cy="25603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395728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READ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889504"/>
            <a:ext cx="1463040" cy="1417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 chart highlights patterns. A decision still needs definitions, context, valid data and a response threshold.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slow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Customer satisfaction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Evidence sources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Structured surveys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Complaint and return trends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Repeat business and retention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Delivery and service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Interpretation risks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Response bias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Low or changing sample size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Averages hiding segments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Metrics without qualitative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transition spd="slow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Internal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Objective, scope and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Process and risk-based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Sample objective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Evaluate and report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Correct and follow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transition spd="slow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OBJECTIVE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 triangulation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Documents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What should happen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11296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Current approved method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Defined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783080"/>
            <a:ext cx="3310128" cy="10972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Interviews</a:t>
            </a:r>
          </a:p>
        </p:txBody>
      </p:sp>
      <p:sp>
        <p:nvSpPr>
          <p:cNvPr id="19" name="Oval 18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What people understand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3511296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How decisions are made</a:t>
            </a:r>
          </a:p>
        </p:txBody>
      </p:sp>
      <p:sp>
        <p:nvSpPr>
          <p:cNvPr id="23" name="Oval 22"/>
          <p:cNvSpPr/>
          <p:nvPr/>
        </p:nvSpPr>
        <p:spPr>
          <a:xfrm>
            <a:off x="4782312" y="4233672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Where variation occurs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3" y="1783080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Observation and records</a:t>
            </a:r>
          </a:p>
        </p:txBody>
      </p:sp>
      <p:sp>
        <p:nvSpPr>
          <p:cNvPr id="28" name="Oval 27"/>
          <p:cNvSpPr/>
          <p:nvPr/>
        </p:nvSpPr>
        <p:spPr>
          <a:xfrm>
            <a:off x="8558783" y="27889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8823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What actually happened</a:t>
            </a:r>
          </a:p>
        </p:txBody>
      </p:sp>
      <p:sp>
        <p:nvSpPr>
          <p:cNvPr id="30" name="Oval 29"/>
          <p:cNvSpPr/>
          <p:nvPr/>
        </p:nvSpPr>
        <p:spPr>
          <a:xfrm>
            <a:off x="8558783" y="35112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3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Traceable samples</a:t>
            </a:r>
          </a:p>
        </p:txBody>
      </p:sp>
      <p:sp>
        <p:nvSpPr>
          <p:cNvPr id="32" name="Oval 31"/>
          <p:cNvSpPr/>
          <p:nvPr/>
        </p:nvSpPr>
        <p:spPr>
          <a:xfrm>
            <a:off x="8558783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3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Results and effectiveness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transition spd="slow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Write a defensible nonconformity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Required 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Requirement: the applicable criterion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Evidence: specific, traceable facts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Gap: how evidence fails the criterion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Scope: affected sample or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Avoid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Vague: documentation is poor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Opinion: staff seemed careless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Prescription: buy this software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Overreach: one sample proves total failure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transition spd="slow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 Process Against QMS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Assess LPC's supplier-control process using a requirements-to-evidence matrix without treating a checklist as proof.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clause applicability and evidence matrix with conformity judgements and follow-up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Evaluation Matrix Workbook (Excel), Evidence Quality Checklist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transition spd="slow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5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 Process Against QMS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Supplier approvals exist, but several files are incomplete and incoming defects have increased. Procurement says the process is compliant because a procedure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transition spd="slow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5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 Process Against QMS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Each judgement cites a requirement, evidence and result; unknowns remain evidence gaps rather than automatic nonconformities.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transition spd="slow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Conduct an Internal Audit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Plan and conduct a simulated internal audit of LPC's order-review and production-control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audit plan, process-based checklist, evidence log and correctly worded findings.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Internal Audit Workbook (Excel), Audit Checklist PDF, role-play evidence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transition spd="slow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6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Conduct an Internal Audit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 customer returned parts made to an obsolete drawing revision. LPC needs an impartial internal audit before management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transition spd="slow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6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Conduct an Internal Audit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The audit trail is reproducible and every nonconformity statement includes the requirement, objective evidence and unmet condition.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transition spd="slow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review converts evidence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Context and prior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Performance and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Audit, customer and provider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Risks, resources and opportunities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Decisions, owners and follow-up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transition spd="slow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review inputs and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Changes in context and interested parties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Objectives, process and conformity results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Customer, audit and supplier performance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Resources, risks and improvement opportunities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Outputs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Improvement decisions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Need for QMS changes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Resource decisions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Actions, owners and completion 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transition spd="slow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67712"/>
            <a:ext cx="109728" cy="182880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587752"/>
            <a:ext cx="987552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Continual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4096512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Nonconformity | root cause | corrective action |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502920"/>
            <a:ext cx="21031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transition spd="slow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10.1 General improvement: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Select and act on opportunities that improve products, services, results and customer satisfaction.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performance, audit, review and feedback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Correct, prevent or reduce undesired effects.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Improve QMS suitability, adequacy and effectiveness.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transition spd="slow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10.1 General improvement: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Prioritised improvement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case and expected result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Implementation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Benefits and lessons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 many unprioritised ideas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Improvement equals only corrective 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baseline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Benefits claimed without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transition spd="slow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10.2 Nonconformity and corrective action: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React, control, eliminate causes and verify that recurrence is prevented.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Correct and deal with consequences.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Determine cause and whether similar issues exist.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Implement action, review effectiveness and update the QMS where needed.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transition spd="slow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10.2 Nonconformity and corrective action: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NCR and containment record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Root-cause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 plan tied to causes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Effectiveness and systemic update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Correction confused with corrective 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Root cause is person did not follow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 closes on due date alone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Similar risks not considered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transition spd="slow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10.3 Continual improvement: intent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20619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4889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Intent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learning and evidence to keep improving QMS suitability, adequacy and effectiveness.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2061972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548890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54889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analysis and management review outputs.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4508"/>
            <a:ext cx="82296" cy="20619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3031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Standardise successful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4508"/>
            <a:ext cx="5198364" cy="206197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4508"/>
            <a:ext cx="82296" cy="20619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4830318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30318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4174236"/>
            <a:ext cx="4027932" cy="18790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Maintain learning, ownership and follow-up.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transition spd="slow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10.3 Continual improvement: evidence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objective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Improvement portfolio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Before-and-after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Updated standard work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Lessons learned and next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Common weak practice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One-off project with no sustainment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Local gain harms another process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control-plan update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follow-up after handover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transition spd="slow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NONCONFORMITY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different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Correction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Fix the detected problem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11296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Rework, replace or restore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33672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Immediate output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783080"/>
            <a:ext cx="3310128" cy="10972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9D8A"/>
                </a:solidFill>
                <a:latin typeface="Arial"/>
              </a:rPr>
              <a:t>Containment</a:t>
            </a:r>
          </a:p>
        </p:txBody>
      </p:sp>
      <p:sp>
        <p:nvSpPr>
          <p:cNvPr id="19" name="Oval 18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Control affected scope</a:t>
            </a:r>
          </a:p>
        </p:txBody>
      </p:sp>
      <p:sp>
        <p:nvSpPr>
          <p:cNvPr id="21" name="Oval 20"/>
          <p:cNvSpPr/>
          <p:nvPr/>
        </p:nvSpPr>
        <p:spPr>
          <a:xfrm>
            <a:off x="4782312" y="3511296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Protect customer and process</a:t>
            </a:r>
          </a:p>
        </p:txBody>
      </p:sp>
      <p:sp>
        <p:nvSpPr>
          <p:cNvPr id="23" name="Oval 22"/>
          <p:cNvSpPr/>
          <p:nvPr/>
        </p:nvSpPr>
        <p:spPr>
          <a:xfrm>
            <a:off x="4782312" y="4233672"/>
            <a:ext cx="201168" cy="20116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Prevent unintended use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3" y="1783080"/>
            <a:ext cx="3310128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0183" y="1783080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39" y="2011680"/>
            <a:ext cx="288036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Corrective 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8558783" y="278892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8823" y="2697479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Eliminate verified cause</a:t>
            </a:r>
          </a:p>
        </p:txBody>
      </p:sp>
      <p:sp>
        <p:nvSpPr>
          <p:cNvPr id="30" name="Oval 29"/>
          <p:cNvSpPr/>
          <p:nvPr/>
        </p:nvSpPr>
        <p:spPr>
          <a:xfrm>
            <a:off x="8558783" y="351129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3" y="3419856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Prevent recurrence elsewhere</a:t>
            </a:r>
          </a:p>
        </p:txBody>
      </p:sp>
      <p:sp>
        <p:nvSpPr>
          <p:cNvPr id="32" name="Oval 31"/>
          <p:cNvSpPr/>
          <p:nvPr/>
        </p:nvSpPr>
        <p:spPr>
          <a:xfrm>
            <a:off x="8558783" y="42336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3" y="4142232"/>
            <a:ext cx="2487168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61B26"/>
                </a:solidFill>
                <a:latin typeface="Arial"/>
              </a:rPr>
              <a:t>System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transition spd="slow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CLAUSE 10.2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Describe and contain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Assess scope and consequences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Find and verify causes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Implement cause-linked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Review effectiveness and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transition spd="slow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ROOT-CAUSE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Root cause: evidence before 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Useful methods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5 Whys for causal chain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Fishbone for categories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 map for hand-offs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 stratification for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Reasoning traps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 at human error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favourite cause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Confuse correlation with cause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Skip verification against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slow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Corrective-action quality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686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Cause linked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Each action addresses a verified cause.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168652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Owned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One accountable owner has authority and resources.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4032"/>
            <a:ext cx="82296" cy="13014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896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Timed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Due date reflects risk and implementation reality.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4032"/>
            <a:ext cx="82296" cy="1301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689604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Systemic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Similar processes and risks are considered.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24984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2105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Measured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Effectiveness criteria are defined before closure.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24984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5210556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Sustained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Documents, competence and controls are updated.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transition spd="slow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VERIFY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Effectiveness is not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Implementation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 implemented as planned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exists that control is operating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People are competent in changed work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Required documents and systems updated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Effectiveness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problem did not recur over a meaningful period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 moved toward target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 sample confirms sustained control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adverse effect transferred elsewhere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slow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Follow Up a Nonconformity and Corrective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Manage LPC's obsolete-drawing nonconformity using containment, 5 Whys, action planning and effectiveness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complete NCR/CAPA record with evidence-based root cause and an effectiveness review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CAPA Workbook (Excel), Corrective Action Checklist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transition spd="slow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7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Follow Up a Nonconformity and Corrective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Twenty-four parts were produced to revision B after the customer approved revision C. Eight were shipped before the error was detected.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transition spd="slow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7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Follow Up a Nonconformity and Corrective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Actions address verified causes, not only symptoms; the effectiveness criterion is measurable and scheduled after sufficient evidence can accumulate.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transition spd="slow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Document the Continual Improvement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508760" cy="457200"/>
          </a:xfrm>
          <a:prstGeom prst="round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08760" cy="3931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0652760" cy="11247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Synthesize evidence from all prior activities into an accountable improvement report and management-review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33087"/>
            <a:ext cx="99669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99669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structured improvement report with baseline, analysis, decisions, responsibilities, evidence and lessons learned.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0368"/>
            <a:ext cx="9966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Resources: Improvement Report Workbook (Excel), Report Quality Checklist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transition spd="slow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F9D8A"/>
                </a:solidFill>
                <a:latin typeface="Arial"/>
              </a:rPr>
              <a:t>ACTIVITY 8  |  DECISION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Document the Continual Improvement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12848"/>
            <a:ext cx="1325880" cy="1325880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32588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029968"/>
            <a:ext cx="8887968" cy="1691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Three months after LPC launched its improvement programme, management needs evidence of results, unresolved risks and recommended next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8887968" cy="1508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096512"/>
            <a:ext cx="8366760" cy="10789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Decide what evidence you need, what method fits, and how you will know the result is credible.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transition spd="slow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6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854A"/>
                </a:solidFill>
                <a:latin typeface="Arial"/>
              </a:rPr>
              <a:t>ACTIVITY 8  | 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Document the Continual Improvement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0652760" cy="329184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996696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854A"/>
                </a:solidFill>
                <a:latin typeface="Arial"/>
              </a:rPr>
              <a:t>CHECK YOUR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71216"/>
            <a:ext cx="99669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 reviewer can reconstruct the improvement story from evidence and clearly see ownership, status, approval, effectiveness and next review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90288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Detailed steps, scenario exhibits and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transition spd="slow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Improvement report storyline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Problem and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Analysis and selected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Implementation and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Results and effectiveness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Learning, residual risk and next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transition spd="slow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ORGANISATION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Strong improvement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0235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Build credibility</a:t>
            </a:r>
          </a:p>
        </p:txBody>
      </p:sp>
      <p:sp>
        <p:nvSpPr>
          <p:cNvPr id="10" name="Oval 9"/>
          <p:cNvSpPr/>
          <p:nvPr/>
        </p:nvSpPr>
        <p:spPr>
          <a:xfrm>
            <a:off x="1033271" y="252374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Traceable facts and data definitions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Clear owners, dates and approvals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1" y="418795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Before-and-after comparison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50200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Limitations and residual risks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83080"/>
            <a:ext cx="5102352" cy="4343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783080"/>
            <a:ext cx="5102352" cy="100584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199339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9D8A"/>
                </a:solidFill>
                <a:latin typeface="Arial"/>
              </a:rPr>
              <a:t>Avoid</a:t>
            </a:r>
          </a:p>
        </p:txBody>
      </p:sp>
      <p:sp>
        <p:nvSpPr>
          <p:cNvPr id="25" name="Oval 24"/>
          <p:cNvSpPr/>
          <p:nvPr/>
        </p:nvSpPr>
        <p:spPr>
          <a:xfrm>
            <a:off x="6592824" y="252374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523744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2505456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Success declared without baseline</a:t>
            </a:r>
          </a:p>
        </p:txBody>
      </p:sp>
      <p:sp>
        <p:nvSpPr>
          <p:cNvPr id="28" name="Oval 27"/>
          <p:cNvSpPr/>
          <p:nvPr/>
        </p:nvSpPr>
        <p:spPr>
          <a:xfrm>
            <a:off x="6592824" y="3355848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3355848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337560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described without result</a:t>
            </a:r>
          </a:p>
        </p:txBody>
      </p:sp>
      <p:sp>
        <p:nvSpPr>
          <p:cNvPr id="31" name="Oval 30"/>
          <p:cNvSpPr/>
          <p:nvPr/>
        </p:nvSpPr>
        <p:spPr>
          <a:xfrm>
            <a:off x="6592824" y="4187952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187952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4169664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Late actions hidden</a:t>
            </a:r>
          </a:p>
        </p:txBody>
      </p:sp>
      <p:sp>
        <p:nvSpPr>
          <p:cNvPr id="34" name="Oval 33"/>
          <p:cNvSpPr/>
          <p:nvPr/>
        </p:nvSpPr>
        <p:spPr>
          <a:xfrm>
            <a:off x="6592824" y="5020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92824" y="5020056"/>
            <a:ext cx="384048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1" y="5001768"/>
            <a:ext cx="3977639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Lessons not converted into standard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transition spd="slow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FROM COURSE TO WORKPLACE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Diagnose context and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Design processes and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Operate and build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Audit and management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Certify if chosen; improve continuously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transition spd="slow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6865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Diagnose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Identify evidence-backed quality gaps.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783080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0236" y="2168652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168652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1756" y="1892808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Map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Manage and improve end-to-end processes.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4032"/>
            <a:ext cx="82296" cy="13014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8960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Address risk and set measurable objectives.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304032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04032"/>
            <a:ext cx="82296" cy="13014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0236" y="3689604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3689604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1756" y="3413760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Support and operate processes consistently.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24984"/>
            <a:ext cx="82296" cy="13014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2105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Evaluate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measures, audit and management 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4824984"/>
            <a:ext cx="5198364" cy="130149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24984"/>
            <a:ext cx="82296" cy="130149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0236" y="5210556"/>
            <a:ext cx="530352" cy="530352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5210556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756" y="4934712"/>
            <a:ext cx="4027932" cy="11186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Close the loop through CAPA and reporting.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transition spd="slow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Primary and professional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920240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ISO 9001:2015 standard page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2"/>
              </a:rPr>
              <a:t>https://www.iso.org/standard/62085.html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16352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816352"/>
            <a:ext cx="73152" cy="84124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2907792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ISO 9001 explained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3"/>
              </a:rPr>
              <a:t>https://www.iso.org/home/insights-news/resources/iso-9001-explained.html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03904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803904"/>
            <a:ext cx="73152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3895344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ISO quality management principles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4"/>
              </a:rPr>
              <a:t>https://www.iso.org/iso/pub100080.pdf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91456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791456"/>
            <a:ext cx="73152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4882896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ASQ ISO 9001 overview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5"/>
              </a:rPr>
              <a:t>https://asq.org/quality-resources/iso-9001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transition spd="slow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Further course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920240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NSF ISO 9001 certification overview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2"/>
              </a:rPr>
              <a:t>https://www.nsf.org/management-systems/quality-management/iso-9001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16352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816352"/>
            <a:ext cx="73152" cy="841248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2907792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Advisera ISO 9001 overview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3"/>
              </a:rPr>
              <a:t>https://advisera.com/9001academy/what-is-iso-9001/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03904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803904"/>
            <a:ext cx="73152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3895344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ISO Library ISO 9001 summary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4"/>
              </a:rPr>
              <a:t>https://iso-library.com/standard/9001/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91456"/>
            <a:ext cx="10652760" cy="8412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791456"/>
            <a:ext cx="73152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4882896"/>
            <a:ext cx="100126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61B26"/>
                </a:solidFill>
                <a:latin typeface="Arial"/>
              </a:rPr>
              <a:t>ISO 9000 family background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F6FEB"/>
                </a:solidFill>
                <a:latin typeface="Arial"/>
                <a:hlinkClick r:id="rId5"/>
              </a:rPr>
              <a:t>https://en.wikipedia.org/wiki/ISO_9000_family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transition spd="slow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| COURSE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 from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2631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2631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Sign in to the Tertiary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8998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8998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4389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4389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870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Open My Courses and this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292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0756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0756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7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7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9628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Download learner slides and Learner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9050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4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4" y="2194560"/>
            <a:ext cx="1925726" cy="91440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7905" y="2542032"/>
            <a:ext cx="694944" cy="694944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7905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1386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Open the linked activity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808" y="3319272"/>
            <a:ext cx="310896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4272" y="2194560"/>
            <a:ext cx="1925726" cy="29992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4272" y="2194560"/>
            <a:ext cx="192572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9663" y="254203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9663" y="2542032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4" y="3502152"/>
            <a:ext cx="1687982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30" b="0">
                <a:solidFill>
                  <a:srgbClr val="161B26"/>
                </a:solidFill>
                <a:latin typeface="Arial"/>
              </a:rPr>
              <a:t>Use only the current 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transition spd="slow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2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2413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356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45336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96240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017395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7395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828800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Rate the content, activities and pace of the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10078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10078"/>
            <a:ext cx="82296" cy="962406"/>
          </a:xfrm>
          <a:prstGeom prst="rect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144393"/>
            <a:ext cx="493776" cy="493776"/>
          </a:xfrm>
          <a:prstGeom prst="ellipse">
            <a:avLst/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144393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955798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Tell us what helped most and what we should improve.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37076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37076"/>
            <a:ext cx="82296" cy="9624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71391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71391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4082796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the feedback form shared by your trainer.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64074"/>
            <a:ext cx="10652760" cy="96240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64074"/>
            <a:ext cx="82296" cy="96240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" y="5398389"/>
            <a:ext cx="493776" cy="49377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398389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784" y="5209794"/>
            <a:ext cx="9372600" cy="87096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Apply one improvement from today at your workplace.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transition spd="slow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59152"/>
            <a:ext cx="10241280" cy="187451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Build quality into the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498848"/>
            <a:ext cx="10149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Use evidence, ownership and continual improvement to make reliable performance repeatable.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65836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ISO 9001:2015 Quality Management System  |  C239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37376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